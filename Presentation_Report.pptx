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348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28221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/>
              <a:t>CREDIT CARD </a:t>
            </a:r>
            <a:endParaRPr sz="4400" b="1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1633728"/>
            <a:ext cx="5783400" cy="1207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</a:rPr>
              <a:t>WEEKY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0000"/>
                </a:solidFill>
              </a:rPr>
              <a:t>STATUS REPORT</a:t>
            </a:r>
            <a:endParaRPr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OBJECTIVE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To </a:t>
            </a:r>
            <a:r>
              <a:rPr lang="en-GB" sz="2400" dirty="0" err="1"/>
              <a:t>devlope</a:t>
            </a:r>
            <a:r>
              <a:rPr lang="en-GB" sz="2400" dirty="0"/>
              <a:t> a comprehensive credit card weekly dashboard that provides real-time Insight into key performance metrics and trends, enabling stakeholders to monitor and </a:t>
            </a:r>
            <a:r>
              <a:rPr lang="en-GB" sz="2400" dirty="0" err="1"/>
              <a:t>analyze</a:t>
            </a:r>
            <a:r>
              <a:rPr lang="en-GB" sz="2400" dirty="0"/>
              <a:t> credit card operations effectively.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 Data to SQL Database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0A5582-E0A1-FF92-D818-E32FFCE49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30810"/>
              </p:ext>
            </p:extLst>
          </p:nvPr>
        </p:nvGraphicFramePr>
        <p:xfrm>
          <a:off x="289814" y="1779270"/>
          <a:ext cx="8369300" cy="2286000"/>
        </p:xfrm>
        <a:graphic>
          <a:graphicData uri="http://schemas.openxmlformats.org/drawingml/2006/table">
            <a:tbl>
              <a:tblPr/>
              <a:tblGrid>
                <a:gridCol w="4184650">
                  <a:extLst>
                    <a:ext uri="{9D8B030D-6E8A-4147-A177-3AD203B41FA5}">
                      <a16:colId xmlns:a16="http://schemas.microsoft.com/office/drawing/2014/main" val="4124679909"/>
                    </a:ext>
                  </a:extLst>
                </a:gridCol>
                <a:gridCol w="4184650">
                  <a:extLst>
                    <a:ext uri="{9D8B030D-6E8A-4147-A177-3AD203B41FA5}">
                      <a16:colId xmlns:a16="http://schemas.microsoft.com/office/drawing/2014/main" val="3307385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800" dirty="0">
                          <a:effectLst/>
                          <a:latin typeface="Google Sans Text"/>
                        </a:rPr>
                        <a:t>Prepare CSV file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800" dirty="0">
                          <a:effectLst/>
                          <a:latin typeface="Google Sans Text"/>
                        </a:rPr>
                        <a:t>Create tables in SQL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800" dirty="0">
                          <a:effectLst/>
                          <a:latin typeface="Google Sans Text"/>
                        </a:rPr>
                        <a:t>Import CSV file into SQL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66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8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88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544434"/>
                  </a:ext>
                </a:extLst>
              </a:tr>
            </a:tbl>
          </a:graphicData>
        </a:graphic>
      </p:graphicFrame>
      <p:pic>
        <p:nvPicPr>
          <p:cNvPr id="4" name="Picture 3" descr="Screenshot 2025-12-24 101229">
            <a:extLst>
              <a:ext uri="{FF2B5EF4-FFF2-40B4-BE49-F238E27FC236}">
                <a16:creationId xmlns:a16="http://schemas.microsoft.com/office/drawing/2014/main" id="{305D0F07-7FFF-4983-A7A2-A31884DFA83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888" y="2571750"/>
            <a:ext cx="2892298" cy="1281834"/>
          </a:xfrm>
          <a:prstGeom prst="rect">
            <a:avLst/>
          </a:prstGeom>
        </p:spPr>
      </p:pic>
      <p:pic>
        <p:nvPicPr>
          <p:cNvPr id="5" name="Picture 4" descr="Screenshot 2025-12-24 101429">
            <a:extLst>
              <a:ext uri="{FF2B5EF4-FFF2-40B4-BE49-F238E27FC236}">
                <a16:creationId xmlns:a16="http://schemas.microsoft.com/office/drawing/2014/main" id="{8AAED9DF-A68A-C5C7-2312-705B377182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56" y="3573115"/>
            <a:ext cx="2499360" cy="1388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132588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DAX QUERIES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818689"/>
            <a:ext cx="8368200" cy="41922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400" dirty="0" err="1"/>
              <a:t>AgeGroup</a:t>
            </a:r>
            <a:r>
              <a:rPr lang="en-GB" sz="1400" dirty="0"/>
              <a:t> = SWITCH(</a:t>
            </a:r>
          </a:p>
          <a:p>
            <a:pPr>
              <a:buNone/>
            </a:pPr>
            <a:endParaRPr lang="en-GB" sz="1400" dirty="0"/>
          </a:p>
          <a:p>
            <a:pPr>
              <a:buNone/>
            </a:pPr>
            <a:r>
              <a:rPr lang="en-GB" sz="1400" dirty="0"/>
              <a:t>TRUE(),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&lt; 30, "20-30",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&gt;= 30 &amp;&amp; 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&lt; 40, "30-40",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&gt;= 40 &amp;&amp; 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&lt; 50, "40-50",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&gt;= 50 &amp;&amp; 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&lt; 60, "50-60",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</a:t>
            </a:r>
            <a:r>
              <a:rPr lang="en-GB" sz="1400" dirty="0" err="1"/>
              <a:t>customer_age</a:t>
            </a:r>
            <a:r>
              <a:rPr lang="en-GB" sz="1400" dirty="0"/>
              <a:t>] &gt;= 60, "60+",</a:t>
            </a:r>
          </a:p>
          <a:p>
            <a:pPr>
              <a:buNone/>
            </a:pPr>
            <a:r>
              <a:rPr lang="en-GB" sz="1400" dirty="0"/>
              <a:t>"unknown"</a:t>
            </a:r>
          </a:p>
          <a:p>
            <a:pPr>
              <a:buNone/>
            </a:pPr>
            <a:r>
              <a:rPr lang="en-GB" sz="1400" dirty="0"/>
              <a:t>)</a:t>
            </a:r>
          </a:p>
          <a:p>
            <a:pPr>
              <a:buNone/>
            </a:pPr>
            <a:endParaRPr lang="en-GB" sz="1400" dirty="0"/>
          </a:p>
          <a:p>
            <a:pPr>
              <a:buNone/>
            </a:pPr>
            <a:r>
              <a:rPr lang="en-GB" sz="1400" dirty="0" err="1"/>
              <a:t>IncomeGrouP</a:t>
            </a:r>
            <a:r>
              <a:rPr lang="en-GB" sz="1400" dirty="0"/>
              <a:t> = SWITCH(</a:t>
            </a:r>
          </a:p>
          <a:p>
            <a:pPr>
              <a:buNone/>
            </a:pPr>
            <a:r>
              <a:rPr lang="en-GB" sz="1400" dirty="0"/>
              <a:t>TRUE(),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'[income] &lt; 35000, "Low",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'[income] &gt;= 35000 &amp;&amp; 'public </a:t>
            </a:r>
            <a:r>
              <a:rPr lang="en-GB" sz="1400" dirty="0" err="1"/>
              <a:t>cust_detail</a:t>
            </a:r>
            <a:r>
              <a:rPr lang="en-GB" sz="1400" dirty="0"/>
              <a:t>'[income] &lt;70000, "Med",</a:t>
            </a:r>
          </a:p>
          <a:p>
            <a:pPr>
              <a:buNone/>
            </a:pPr>
            <a:r>
              <a:rPr lang="en-GB" sz="1400" dirty="0"/>
              <a:t>'public </a:t>
            </a:r>
            <a:r>
              <a:rPr lang="en-GB" sz="1400" dirty="0" err="1"/>
              <a:t>cust_detail</a:t>
            </a:r>
            <a:r>
              <a:rPr lang="en-GB" sz="1400" dirty="0"/>
              <a:t>'[income] &gt;= 70000, "High",</a:t>
            </a:r>
          </a:p>
          <a:p>
            <a:pPr>
              <a:buNone/>
            </a:pPr>
            <a:r>
              <a:rPr lang="en-GB" sz="1400" dirty="0"/>
              <a:t>"unknown")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67979" y="116649"/>
            <a:ext cx="8368200" cy="4529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DAX QUERIES</a:t>
            </a:r>
            <a:endParaRPr dirty="0"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449705"/>
            <a:ext cx="8368200" cy="4475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week_num2 = WEEKNUM('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</a:t>
            </a:r>
            <a:r>
              <a:rPr lang="en-US" dirty="0" err="1"/>
              <a:t>Week_Start_Date</a:t>
            </a:r>
            <a:r>
              <a:rPr lang="en-US" dirty="0"/>
              <a:t>])</a:t>
            </a:r>
          </a:p>
          <a:p>
            <a:endParaRPr lang="en-US" dirty="0"/>
          </a:p>
          <a:p>
            <a:r>
              <a:rPr lang="en-US" dirty="0"/>
              <a:t>Revenue = 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</a:t>
            </a:r>
            <a:r>
              <a:rPr lang="en-US" dirty="0" err="1"/>
              <a:t>Annual_Fees</a:t>
            </a:r>
            <a:r>
              <a:rPr lang="en-US" dirty="0"/>
              <a:t>]+'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</a:t>
            </a:r>
            <a:r>
              <a:rPr lang="en-US" dirty="0" err="1"/>
              <a:t>Total_Trans_Amt</a:t>
            </a:r>
            <a:r>
              <a:rPr lang="en-US" dirty="0"/>
              <a:t>]+'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</a:t>
            </a:r>
            <a:r>
              <a:rPr lang="en-US" dirty="0" err="1"/>
              <a:t>Interest_Earned</a:t>
            </a:r>
            <a:r>
              <a:rPr lang="en-US" dirty="0"/>
              <a:t>]</a:t>
            </a:r>
          </a:p>
          <a:p>
            <a:endParaRPr lang="en-US" dirty="0"/>
          </a:p>
          <a:p>
            <a:r>
              <a:rPr lang="en-US" dirty="0" err="1"/>
              <a:t>Current_week_reveneue</a:t>
            </a:r>
            <a:r>
              <a:rPr lang="en-US" dirty="0"/>
              <a:t> = CALCULATE( SUM('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'[Revenue]),</a:t>
            </a:r>
          </a:p>
          <a:p>
            <a:pPr marL="114300" indent="0">
              <a:buNone/>
            </a:pPr>
            <a:r>
              <a:rPr lang="en-US" dirty="0"/>
              <a:t>      FILTER(</a:t>
            </a:r>
          </a:p>
          <a:p>
            <a:pPr marL="114300" indent="0">
              <a:buNone/>
            </a:pPr>
            <a:r>
              <a:rPr lang="en-US" dirty="0"/>
              <a:t>             ALL('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’),</a:t>
            </a:r>
          </a:p>
          <a:p>
            <a:pPr marL="114300" indent="0">
              <a:buNone/>
            </a:pPr>
            <a:r>
              <a:rPr lang="en-US" dirty="0"/>
              <a:t>              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'[week_num2]=MAX('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'[week_num2])))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 err="1"/>
              <a:t>Previous_week_reveneue</a:t>
            </a:r>
            <a:r>
              <a:rPr lang="en-US" dirty="0"/>
              <a:t> = CALCULATE( SUM('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'[Revenue]),</a:t>
            </a:r>
          </a:p>
          <a:p>
            <a:pPr marL="114300" indent="0">
              <a:buNone/>
            </a:pPr>
            <a:r>
              <a:rPr lang="en-US" dirty="0"/>
              <a:t>          FILTER(</a:t>
            </a:r>
          </a:p>
          <a:p>
            <a:pPr marL="114300" indent="0">
              <a:buNone/>
            </a:pPr>
            <a:r>
              <a:rPr lang="en-US" dirty="0"/>
              <a:t>              ALL('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’),  </a:t>
            </a:r>
          </a:p>
          <a:p>
            <a:pPr marL="114300" indent="0">
              <a:buNone/>
            </a:pPr>
            <a:r>
              <a:rPr lang="en-US" dirty="0"/>
              <a:t>                 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'[week_num2]=MAX('</a:t>
            </a:r>
            <a:r>
              <a:rPr lang="en-US" dirty="0" err="1"/>
              <a:t>ccdb</a:t>
            </a:r>
            <a:r>
              <a:rPr lang="en-US" dirty="0"/>
              <a:t> </a:t>
            </a:r>
            <a:r>
              <a:rPr lang="en-US" dirty="0" err="1"/>
              <a:t>cc_detail</a:t>
            </a:r>
            <a:r>
              <a:rPr lang="en-US" dirty="0"/>
              <a:t>'[week_num2])-1))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BCE3B-96E9-F2E8-7325-B2899972B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Insights- Week 53 (31</a:t>
            </a:r>
            <a:r>
              <a:rPr lang="en-US" baseline="30000" dirty="0"/>
              <a:t>st</a:t>
            </a:r>
            <a:r>
              <a:rPr lang="en-US" dirty="0"/>
              <a:t> dec)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B74D6-23A2-0FEB-3553-8A1BB8839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024128"/>
            <a:ext cx="8368200" cy="3998976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Wow(week of week) change</a:t>
            </a:r>
          </a:p>
          <a:p>
            <a:r>
              <a:rPr lang="en-US" sz="1400" dirty="0"/>
              <a:t>Revenue increased by 28.8%,</a:t>
            </a:r>
          </a:p>
          <a:p>
            <a:r>
              <a:rPr lang="en-US" sz="1400" dirty="0"/>
              <a:t>Total Transaction Amt &amp; Count increased by xx% &amp; xx%</a:t>
            </a:r>
          </a:p>
          <a:p>
            <a:r>
              <a:rPr lang="en-US" sz="1400" dirty="0"/>
              <a:t>Customer count increased by xx%</a:t>
            </a:r>
          </a:p>
          <a:p>
            <a:r>
              <a:rPr lang="en-US" dirty="0">
                <a:solidFill>
                  <a:srgbClr val="FFFF00"/>
                </a:solidFill>
              </a:rPr>
              <a:t>Over YTD</a:t>
            </a:r>
          </a:p>
          <a:p>
            <a:r>
              <a:rPr lang="en-US" sz="1400" dirty="0"/>
              <a:t>Overall revenue is 57M</a:t>
            </a:r>
          </a:p>
          <a:p>
            <a:r>
              <a:rPr lang="en-US" sz="1400" dirty="0"/>
              <a:t>Total interest is 8 M</a:t>
            </a:r>
          </a:p>
          <a:p>
            <a:r>
              <a:rPr lang="en-US" sz="1400" dirty="0"/>
              <a:t>Total transaction amount is 46M</a:t>
            </a:r>
          </a:p>
          <a:p>
            <a:r>
              <a:rPr lang="en-US" sz="1400" dirty="0"/>
              <a:t>Male customer are contributing more in revenue 31M, female 26M</a:t>
            </a:r>
          </a:p>
          <a:p>
            <a:r>
              <a:rPr lang="en-US" sz="1400" dirty="0"/>
              <a:t>Blue &amp; Silver credit card </a:t>
            </a:r>
            <a:r>
              <a:rPr lang="en-US" sz="1400" dirty="0" err="1"/>
              <a:t>arre</a:t>
            </a:r>
            <a:r>
              <a:rPr lang="en-US" sz="1400" dirty="0"/>
              <a:t> </a:t>
            </a:r>
            <a:r>
              <a:rPr lang="en-US" sz="1400" dirty="0" err="1"/>
              <a:t>countributing</a:t>
            </a:r>
            <a:r>
              <a:rPr lang="en-US" sz="1400" dirty="0"/>
              <a:t> to 93% of overall transactions</a:t>
            </a:r>
          </a:p>
          <a:p>
            <a:r>
              <a:rPr lang="en-US" sz="1400" dirty="0"/>
              <a:t>TX,NY &amp; CA is contributing to 68%</a:t>
            </a:r>
          </a:p>
          <a:p>
            <a:r>
              <a:rPr lang="en-US" sz="1400" dirty="0"/>
              <a:t>Overall Activation rate is 57.5%</a:t>
            </a:r>
          </a:p>
          <a:p>
            <a:r>
              <a:rPr lang="en-US" sz="1400" dirty="0"/>
              <a:t>Overall Delinquent rate is 6.06%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86071080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485</Words>
  <Application>Microsoft Office PowerPoint</Application>
  <PresentationFormat>On-screen Show (16:9)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Arial</vt:lpstr>
      <vt:lpstr>Google Sans Text</vt:lpstr>
      <vt:lpstr>Roboto Slab</vt:lpstr>
      <vt:lpstr>Marina</vt:lpstr>
      <vt:lpstr>CREDIT CARD </vt:lpstr>
      <vt:lpstr>PROJECT OBJECTIVE</vt:lpstr>
      <vt:lpstr>Import Data to SQL Database</vt:lpstr>
      <vt:lpstr>DAX QUERIES</vt:lpstr>
      <vt:lpstr>DAX QUERIES</vt:lpstr>
      <vt:lpstr>Project Insights- Week 53 (31st dec)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Mohit pandey</cp:lastModifiedBy>
  <cp:revision>5</cp:revision>
  <dcterms:modified xsi:type="dcterms:W3CDTF">2025-12-24T05:13:37Z</dcterms:modified>
</cp:coreProperties>
</file>